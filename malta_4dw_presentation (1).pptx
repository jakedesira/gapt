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8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Malta 4-Day Work Week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200"/>
              <a:buFont typeface="Cambria"/>
              <a:buNone/>
            </a:pPr>
            <a:r>
              <a:rPr lang="en-US" sz="4200" b="1" i="0" u="none" strike="noStrike" cap="non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Impact Study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Synthetic Travel Demand Simulation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246120"/>
            <a:ext cx="3657600" cy="36576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Data: NSO National Household Travel Survey 2021  |  4 Day Week Global – Portugal Trial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Problem &amp; Aim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960120"/>
            <a:ext cx="2560320" cy="14630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5760" y="10515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84%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7373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 Malta's trips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by personal vehicle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200400" y="960120"/>
            <a:ext cx="2560320" cy="14630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200400" y="10515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€118M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00400" y="17373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annual cost of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congestion in Malta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035040" y="960120"/>
            <a:ext cx="2560320" cy="146304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035040" y="10515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42%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035040" y="17373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 all trips are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commuting trips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Research Aim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the transport impact of a four-day working week in Malta using a </a:t>
            </a:r>
            <a:r>
              <a:rPr lang="en-US" sz="1400" b="1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synthetic travel demand simulation</a:t>
            </a:r>
            <a:r>
              <a:rPr lang="en-US" sz="14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grounded in real NSO survey data, without conducting a new primary survey.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scenarios compared:  </a:t>
            </a:r>
            <a:r>
              <a:rPr lang="en-US" sz="14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5-Day Baseline   vs   4-Day Week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Data Sources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65760" y="960120"/>
            <a:ext cx="393192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65760" y="960120"/>
            <a:ext cx="3931920" cy="7315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NSO Household Travel Survey 2021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157276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31 statistical tables encoded as probability arrays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02920" y="1901952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 charts covering mode, purpose and timing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02920" y="2231136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 districts and 67 localities across Malta &amp; Gozo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256032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Origin-destination matrix (6x6 district level)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02920" y="288950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 split by purpose, labour status, age, gender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321868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Bus, parking and vehicle ownership statistics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3547872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Tables 27-30 excluded (Covid-19 distorted data)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63440" y="960120"/>
            <a:ext cx="402336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663440" y="960120"/>
            <a:ext cx="4023360" cy="7315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800600" y="10972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4 Day Week Global – Portugal Trial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800600" y="1572768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41 companies, 1,000+ workers over 6 months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00600" y="1901952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Activity uplifts calibrate day-off behaviour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00600" y="2231136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Recreation uplift: +0.22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800600" y="2560320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Visiting family &amp; friends uplift: +0.42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00600" y="2889504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Shopping uplift: +0.14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800600" y="3218688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locality CSVs: population, POI counts, regions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00600" y="3547872"/>
            <a:ext cx="374904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Commuting set to zero for day-off workers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1097280"/>
            <a:ext cx="1920240" cy="2011680"/>
          </a:xfrm>
          <a:prstGeom prst="rect">
            <a:avLst/>
          </a:prstGeom>
          <a:solidFill>
            <a:srgbClr val="334E68"/>
          </a:solidFill>
          <a:ln>
            <a:noFill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65760" y="12344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paths.py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65760" y="17830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Centralised file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path management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286000" y="2057400"/>
            <a:ext cx="228600" cy="5486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514600" y="1097280"/>
            <a:ext cx="1920240" cy="20116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514600" y="12344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syndata.py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514600" y="17830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Probability arrays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&amp; baseline generation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434840" y="2057400"/>
            <a:ext cx="228600" cy="5486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663440" y="1097280"/>
            <a:ext cx="1920240" cy="201168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663440" y="12344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4_day.py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663440" y="17830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4-day week scenario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derivation logic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583680" y="2057400"/>
            <a:ext cx="228600" cy="5486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812280" y="1097280"/>
            <a:ext cx="1920240" cy="2011680"/>
          </a:xfrm>
          <a:prstGeom prst="rect">
            <a:avLst/>
          </a:prstGeom>
          <a:solidFill>
            <a:srgbClr val="0E7490"/>
          </a:solidFill>
          <a:ln>
            <a:noFill/>
          </a:ln>
          <a:effectLst>
            <a:outerShdw blurRad="1270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812280" y="12344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gui.py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812280" y="17830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Streamlit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&amp; visualisation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65760" y="32918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NSO Data + CSV files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514600" y="32918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100,000 synthetic trips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663440" y="32918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4-Day week dataset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812280" y="32918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Interactive comparison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Key design decision: Seeded RNG (seed=42) ensures full reproducibility across all runs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Baseline Trip Generation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of the 100,000 trips is built by sampling a chain of conditional probability distributions: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74320" y="1280160"/>
            <a:ext cx="1261872" cy="19659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274320" y="13350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74320" y="1737360"/>
            <a:ext cx="126187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Labour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" y="2212848"/>
            <a:ext cx="1261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Employed, Student,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Retired, etc.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536192" y="2286000"/>
            <a:ext cx="201168" cy="45720"/>
          </a:xfrm>
          <a:prstGeom prst="rect">
            <a:avLst/>
          </a:prstGeom>
          <a:solidFill>
            <a:srgbClr val="94B4CC"/>
          </a:solidFill>
          <a:ln w="12700" cap="flat" cmpd="sng">
            <a:solidFill>
              <a:srgbClr val="94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737360" y="1280160"/>
            <a:ext cx="1261872" cy="19659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737360" y="13350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737360" y="1737360"/>
            <a:ext cx="126187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737360" y="2212848"/>
            <a:ext cx="1261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Conditional 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labour status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999232" y="2286000"/>
            <a:ext cx="201168" cy="45720"/>
          </a:xfrm>
          <a:prstGeom prst="rect">
            <a:avLst/>
          </a:prstGeom>
          <a:solidFill>
            <a:srgbClr val="94B4CC"/>
          </a:solidFill>
          <a:ln w="12700" cap="flat" cmpd="sng">
            <a:solidFill>
              <a:srgbClr val="94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3200400" y="1280160"/>
            <a:ext cx="1261872" cy="19659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200400" y="13350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200400" y="1737360"/>
            <a:ext cx="126187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200400" y="2212848"/>
            <a:ext cx="1261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Conditional 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trip purpose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462272" y="2286000"/>
            <a:ext cx="201168" cy="45720"/>
          </a:xfrm>
          <a:prstGeom prst="rect">
            <a:avLst/>
          </a:prstGeom>
          <a:solidFill>
            <a:srgbClr val="94B4CC"/>
          </a:solidFill>
          <a:ln w="12700" cap="flat" cmpd="sng">
            <a:solidFill>
              <a:srgbClr val="94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663440" y="1280160"/>
            <a:ext cx="1261872" cy="196596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663440" y="13350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663440" y="1737360"/>
            <a:ext cx="126187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Day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663440" y="2212848"/>
            <a:ext cx="1261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 bins from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00:00–23:59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25312" y="2286000"/>
            <a:ext cx="201168" cy="45720"/>
          </a:xfrm>
          <a:prstGeom prst="rect">
            <a:avLst/>
          </a:prstGeom>
          <a:solidFill>
            <a:srgbClr val="94B4CC"/>
          </a:solidFill>
          <a:ln w="12700" cap="flat" cmpd="sng">
            <a:solidFill>
              <a:srgbClr val="94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126480" y="1280160"/>
            <a:ext cx="1261872" cy="196596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126480" y="13350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126480" y="1737360"/>
            <a:ext cx="126187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126480" y="2212848"/>
            <a:ext cx="1261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Weighted by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trip volumes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388352" y="2286000"/>
            <a:ext cx="201168" cy="45720"/>
          </a:xfrm>
          <a:prstGeom prst="rect">
            <a:avLst/>
          </a:prstGeom>
          <a:solidFill>
            <a:srgbClr val="94B4CC"/>
          </a:solidFill>
          <a:ln w="12700" cap="flat" cmpd="sng">
            <a:solidFill>
              <a:srgbClr val="94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589520" y="1280160"/>
            <a:ext cx="1261872" cy="196596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589520" y="13350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589520" y="1737360"/>
            <a:ext cx="126187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Locality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589520" y="2212848"/>
            <a:ext cx="1261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OD matrix +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POI weighting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5760" y="3429000"/>
            <a:ext cx="83210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Two-tier geographic precision: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8640" y="384048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District level (6x6 OD matrix from NSO Table 8)  →  Locality level (population-weighted origins, POI-weighted destinations)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42062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Realism constraints: Retired, Unemployed, Students, Homemakers &amp; Cannot Work are all forbidden from Commuting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4-Day Week Scenario Logic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200400" y="868680"/>
            <a:ext cx="27432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200400" y="868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Employed Trips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538728" y="1463040"/>
            <a:ext cx="45720" cy="4114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559552" y="1463040"/>
            <a:ext cx="45720" cy="41148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65760" y="1874520"/>
            <a:ext cx="3383280" cy="16002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365760" y="193852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Still Working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" y="230428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(trip retention 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65760" y="2633472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Trips kept completely unchanged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Commuting preserved as-is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303520" y="1874520"/>
            <a:ext cx="3429000" cy="16002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303520" y="193852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Day Off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303520" y="230428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7F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0F7FA"/>
                </a:solidFill>
                <a:latin typeface="Calibri"/>
                <a:ea typeface="Calibri"/>
                <a:cs typeface="Calibri"/>
                <a:sym typeface="Calibri"/>
              </a:rPr>
              <a:t>(1 - retention 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303520" y="2633472"/>
            <a:ext cx="3429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Purposes redistributed using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Portugal uplifts — Commuting = 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Mode, time &amp; destination resampled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65760" y="3703320"/>
            <a:ext cx="832104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02920" y="374904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Non-employed trips (Student, Retired, Homemaker, Cannot Work, Unemployed) pass through completely unchanged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65760" y="434340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Example at 0.50 retention:  50% still commuting  |  50% on day off making leisure trips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Interactive Dashboard (Streamlit)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Simulation Controls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65760" y="1371600"/>
            <a:ext cx="393192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02920" y="14173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Trips Generated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16733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10,000 – 200,000 baseline trips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65760" y="2066544"/>
            <a:ext cx="393192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2920" y="21122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Trip Retention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2920" y="236829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Fraction of employed still working (0.10 – 1.00)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65760" y="2761488"/>
            <a:ext cx="393192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2920" y="28072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Seed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30632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Ensures identical reproducible outputs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65760" y="3456432"/>
            <a:ext cx="393192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2920" y="35021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Save CSV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375818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Export both datasets for external reuse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Dashboard Tabs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800600" y="143560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Scenario Comparison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800600" y="17282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Mode, purpose, traffic clock, busiest localities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663440" y="2331720"/>
            <a:ext cx="40233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800600" y="239572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5-Day Baseline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800600" y="268833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Heatmap, locality bars, mode pie, purpose split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663440" y="3291840"/>
            <a:ext cx="40233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800600" y="33558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4-Day 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800600" y="364845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Heatmap, locality bars, mode pie, purpose split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65760" y="4572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Choropleth heatmap rendered from QGIS </a:t>
            </a:r>
            <a:r>
              <a:rPr lang="en-US" sz="1050" b="0" i="1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GeoPackage</a:t>
            </a:r>
            <a:r>
              <a:rPr lang="en-US" sz="1050" i="1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050" b="0" i="1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parsed in pure Python (sqlite3 + struct), no external GIS dependency required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Results: Purpose &amp; Mode Shift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50,000 trips  |  Seed: 42  |  Trip retention: 0.50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960120"/>
            <a:ext cx="56692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6309360" y="960120"/>
            <a:ext cx="2377440" cy="102412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309360" y="100584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−50%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30936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Commuting drops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at 0.50 retention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309360" y="2167128"/>
            <a:ext cx="2377440" cy="1024128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309360" y="2212848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+30%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309360" y="268833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Recreation rises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 top purpose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309360" y="3374136"/>
            <a:ext cx="2377440" cy="1024128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309360" y="341985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~Even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309360" y="3895344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All purposes become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more balanced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Results: Mode Split &amp; Hourly Volume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777240"/>
            <a:ext cx="5303520" cy="260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160" y="777240"/>
            <a:ext cx="283464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365760" y="3547872"/>
            <a:ext cx="4114800" cy="13258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02920" y="3611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Morning Peak Unchanged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02920" y="397764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Despite removing 50% of commuting trips, the 06:00-08:59 peak remains near-identical. Leisure trips fill the same time slots.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754880" y="3547872"/>
            <a:ext cx="39319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892040" y="3611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Car Dependency Persists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892040" y="3977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Vehicle share drops only 1.4% (83.4% to 82%). Walking and bus use increase marginally. Car remains overwhelmingly dominant.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Results: Spatial Distribution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22960"/>
            <a:ext cx="512064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/>
          <p:nvPr/>
        </p:nvSpPr>
        <p:spPr>
          <a:xfrm>
            <a:off x="5669280" y="822960"/>
            <a:ext cx="3017520" cy="84124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5779008" y="8686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Stable Origins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779008" y="114300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San Pawl il-Bahar &amp; Birkirkara dominate both scenarios driven by population, not purpose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669280" y="1828800"/>
            <a:ext cx="3017520" cy="841248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5779008" y="18745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Shifting Destinations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779008" y="214884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Birkirkara drops from 4.2k to 3.3k as workplace trips reduce in 4-day week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669280" y="2834640"/>
            <a:ext cx="3017520" cy="84124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5779008" y="2880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Broader Spread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779008" y="315468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4-day week destinations spread more evenly toward recreation &amp; social localities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669280" y="3840480"/>
            <a:ext cx="3017520" cy="841248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5779008" y="38862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Gozo Low Density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779008" y="416052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Gozo consistently light across both maps, smaller population, relative isolation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-1234440" y="418535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en-US" sz="1200" b="1" i="1" u="none" strike="noStrike" cap="none" dirty="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The four-day week redistributes the CHARACTER of travel,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en-US" sz="1200" b="1" i="1" u="none" strike="noStrike" cap="none" dirty="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not its geography or overall volume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Findings &amp; Conclusion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960120" y="1024128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Commuting drops ~50% at 0.50 retention — replaced by recreation and leisure trips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57200" y="1664208"/>
            <a:ext cx="347472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457200" y="1664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960120" y="1682496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Morning peak remains unchanged — leisure trips fill the same time slots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57200" y="2322576"/>
            <a:ext cx="347472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457200" y="23225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960120" y="2340864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Private vehicle use barely shifts — structural car dependency persists (83.4% → 82%)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57200" y="2980944"/>
            <a:ext cx="347472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457200" y="29809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960120" y="299923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Geographic distribution is stable — origins driven by population, not work policy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457200" y="36393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960120" y="365760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4-day week redistributes trip purposes, not total travel volume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B4CC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94B4CC"/>
                </a:solidFill>
                <a:latin typeface="Calibri"/>
                <a:ea typeface="Calibri"/>
                <a:cs typeface="Calibri"/>
                <a:sym typeface="Calibri"/>
              </a:rPr>
              <a:t>Future Work: Person-level simulation  •  Sector-specific adoption rates  •  Induced demand modelling  •  Malta pilot validation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Office PowerPoint</Application>
  <PresentationFormat>On-screen Show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Luke Camilleri</cp:lastModifiedBy>
  <cp:revision>1</cp:revision>
  <dcterms:modified xsi:type="dcterms:W3CDTF">2026-05-07T10:52:34Z</dcterms:modified>
</cp:coreProperties>
</file>